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6" r:id="rId3"/>
    <p:sldId id="277" r:id="rId4"/>
    <p:sldId id="279" r:id="rId5"/>
    <p:sldId id="280" r:id="rId6"/>
    <p:sldId id="267" r:id="rId7"/>
    <p:sldId id="278" r:id="rId8"/>
    <p:sldId id="283" r:id="rId9"/>
    <p:sldId id="284" r:id="rId10"/>
    <p:sldId id="285" r:id="rId11"/>
    <p:sldId id="286" r:id="rId12"/>
    <p:sldId id="287" r:id="rId13"/>
    <p:sldId id="288" r:id="rId14"/>
    <p:sldId id="282" r:id="rId15"/>
    <p:sldId id="28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14" y="-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781EA-8B25-480D-B364-33D5DAA3F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460378-26A8-4356-9EB1-E091B900A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E8899-B6F9-472B-B0E7-5F7A3741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42EE3-906B-4EC4-B401-4BF262D5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5B612-78EE-443E-B2B8-20B596E8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51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E9514-71C1-4091-81CB-8BCB51B3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B196E-0A34-46EE-B52D-A054CEBB5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DDBBDB-6DB1-4F5C-B39A-BD84CD25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E5326-A782-4989-909C-73C797B3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A09FA6-3F0B-45B1-BFF6-BED50353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64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21161-1999-43A6-99D8-D3144C09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89EEB1-AA7E-467E-88E0-094B62988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67841-BC1A-4CFA-8E6F-CD668F8A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CD816-4C5B-4195-8706-F61239B2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C42E2-8627-4E7D-9129-DB6CA50D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1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BA639-EFEB-48B9-8D1B-1B62BDDA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204F3-88D5-4C52-95D7-B2344145F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52C2EF-1B2F-4BE9-8E3F-70AC442B7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8D18C-A625-445D-AA9F-53B18C01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0E5BD3-750E-43C1-8F21-06A01B8A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49274E-40E2-4591-89EC-FF49F063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5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C8C58-51D9-473D-8841-F2B3CF06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D4CFB4-EABE-4D81-AE02-BD650460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1E0FBF-9FB6-4A30-B12D-E12571432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702129-DCDF-4FDC-A239-24DE3EBBC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21B6B4-EFA5-4A18-977F-3C41A0CD1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26F01E-9675-452D-9B37-7E5A4067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818C3C-0591-42D4-8181-5F9F3383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469872-9D09-4D91-96DD-3CD0312C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94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381A5-75E3-41B0-8EF2-02C537FB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CD741C-9724-4C05-92F1-8B5648A7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3A6995-8C92-4143-9D66-CD5C2104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6D8276-6323-4AA6-9E2C-CF1DAFCE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4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2EB7F6-7110-41C1-94F2-B02E2063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303B1D-36D0-440B-80F5-2CC5FD84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C9072-B6BF-4D75-A420-56393BFE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48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CFA3E-3358-4834-BF77-0585CCD7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32D9D-F7C1-4644-891E-97D8F66C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9D4515-4DDA-4899-AF65-DDE85DE7C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C47FE-2F93-41BF-BAF2-4A4ABBDEF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0192FD-A563-46B8-9E39-3D389569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E574D-6F45-4FD6-91FE-1AAE5C27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9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B8188-6F50-481A-8490-1CBD811A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876462-CFA1-487B-BE4D-4AC519A1F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5839C0-E1D4-465C-B9A0-77978C8BE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D0F3A0-1F5F-4371-8727-2F77FF5F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809D46-1E7F-42CF-945C-94BC10E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59E24F-3E42-432B-8F38-F2236CF8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8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C49D-1669-479A-B9CC-7B0A24BC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713866-F425-41AE-A097-728AFF157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9B2A58-6FF3-4357-88E9-AD1D5E9F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3835CB-01FB-437F-9F60-80EB6171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360DB-349D-4E18-903B-00FAE766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3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321878-D794-4871-B670-6D6F08B8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770462-8833-45E1-A7E8-2DE112C1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BAF52-E1F4-42E3-BD4B-FD8D5538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A58AB-8A48-45FC-83F5-4C329C43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095E16-8E6E-430E-BFF4-C40DE89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55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00174-612B-4618-AF21-18BABDCD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67E804-F152-44E0-9938-18BEEFBE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278D5-4C83-4AD4-A374-E41E6FD74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A7811-AD34-41EE-8CC1-398635206704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D5BA7-9DEC-4936-9E8F-97ACA9F9A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293DD-4476-4C67-AA41-3553E9A77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2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015254" y="-1064332"/>
            <a:ext cx="3706906" cy="37069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F9311-0176-4AFD-BB61-1F38E2FE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87" y="519861"/>
            <a:ext cx="9569824" cy="1698910"/>
          </a:xfrm>
        </p:spPr>
        <p:txBody>
          <a:bodyPr>
            <a:normAutofit/>
          </a:bodyPr>
          <a:lstStyle/>
          <a:p>
            <a:pPr algn="ctr"/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МИНИСТЕРСТВО НАУКИ И ВЫСШЕГО ОБРАЗОВАНИЯ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РОССИЙСКОЙ ФЕДЕРАЦИИ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«Казанский национальный исследовательский технологический университет»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Казанский технологический колледж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(КТК ФГБОУ ВО «КНИТУ»)</a:t>
            </a:r>
            <a:b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097A4A-8BEA-4B40-AEBB-FFB6ADD02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55979"/>
            <a:ext cx="10515600" cy="14433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b="1" cap="all" dirty="0">
                <a:latin typeface="Bicubik" panose="02000503020000020004" pitchFamily="50" charset="0"/>
                <a:cs typeface="Times New Roman" panose="02020603050405020304" pitchFamily="18" charset="0"/>
              </a:rPr>
              <a:t>Выпускная квалификационная </a:t>
            </a: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РАБОТА </a:t>
            </a:r>
            <a:b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 на тему «Создание приложения для отслеживания питания и расчета КБЖУ»</a:t>
            </a:r>
            <a:endParaRPr lang="ru-RU" b="1" dirty="0">
              <a:latin typeface="Bicubik" panose="02000503020000020004" pitchFamily="50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BC74B55-30AE-4AD1-925D-DC6E0652171B}"/>
              </a:ext>
            </a:extLst>
          </p:cNvPr>
          <p:cNvSpPr txBox="1">
            <a:spLocks/>
          </p:cNvSpPr>
          <p:nvPr/>
        </p:nvSpPr>
        <p:spPr>
          <a:xfrm>
            <a:off x="9013953" y="4921803"/>
            <a:ext cx="2941172" cy="169891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endParaRPr lang="en-US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Выполнил</a:t>
            </a:r>
            <a:r>
              <a:rPr lang="en-US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:</a:t>
            </a:r>
            <a:endParaRPr lang="ru-RU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студент группы 0907-22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Семенов Илья Дмитриевич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Руководитель: 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Макаров Даниил Александрович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5487" y="80503"/>
            <a:ext cx="581025" cy="590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8493039" y="2011681"/>
            <a:ext cx="3091768" cy="309176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305828" y="4417981"/>
            <a:ext cx="2941852" cy="2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4863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4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latin typeface="Bicubik" panose="02000503020000020004" pitchFamily="50" charset="0"/>
              </a:rPr>
              <a:t>Цели и задачи</a:t>
            </a:r>
            <a:r>
              <a:rPr lang="en-US" b="1" dirty="0">
                <a:latin typeface="Bicubik" panose="02000503020000020004" pitchFamily="50" charset="0"/>
              </a:rPr>
              <a:t>/</a:t>
            </a:r>
            <a:r>
              <a:rPr lang="ru-RU" b="1" dirty="0">
                <a:latin typeface="Bicubik" panose="02000503020000020004" pitchFamily="50" charset="0"/>
              </a:rPr>
              <a:t>проблематика проекта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BAF0B7-BF1D-40A2-B8B7-51880C93B7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67198"/>
            <a:ext cx="83384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Актуальность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проблемы контроля питания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цели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разработки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задачи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проекта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Проблемный анализ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существующей ситуации </a:t>
            </a:r>
          </a:p>
        </p:txBody>
      </p:sp>
    </p:spTree>
    <p:extLst>
      <p:ext uri="{BB962C8B-B14F-4D97-AF65-F5344CB8AC3E}">
        <p14:creationId xmlns:p14="http://schemas.microsoft.com/office/powerpoint/2010/main" val="266486728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Анализ предметной области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endParaRPr lang="ru-RU" sz="1400" b="1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Основные проблемы</a:t>
            </a:r>
          </a:p>
          <a:p>
            <a:r>
              <a:rPr lang="ru-RU" dirty="0">
                <a:latin typeface="Bicubik" panose="02000503020000020004" pitchFamily="50" charset="0"/>
              </a:rPr>
              <a:t>Существующие аналоги</a:t>
            </a:r>
          </a:p>
          <a:p>
            <a:r>
              <a:rPr lang="ru-RU" dirty="0">
                <a:latin typeface="Bicubik" panose="02000503020000020004" pitchFamily="50" charset="0"/>
              </a:rPr>
              <a:t>Преимущества разрабатываемого решения</a:t>
            </a:r>
          </a:p>
          <a:p>
            <a:r>
              <a:rPr lang="ru-RU" dirty="0">
                <a:latin typeface="Bicubik" panose="02000503020000020004" pitchFamily="50" charset="0"/>
              </a:rPr>
              <a:t>Ключевые требования к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3049105834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Функциональные возможности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Основные функции: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Учёт потребления продуктов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Расчёт КБЖУ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Ведение дневника питания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Статистический анализ</a:t>
            </a:r>
          </a:p>
          <a:p>
            <a:r>
              <a:rPr lang="ru-RU" dirty="0">
                <a:latin typeface="Bicubik" panose="02000503020000020004" pitchFamily="50" charset="0"/>
              </a:rPr>
              <a:t>Дополнительные возможности: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Система профилей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Достижения и мотивация</a:t>
            </a:r>
          </a:p>
          <a:p>
            <a:pPr lvl="1"/>
            <a:r>
              <a:rPr lang="ru-RU" dirty="0">
                <a:latin typeface="Bicubik" panose="02000503020000020004" pitchFamily="50" charset="0"/>
              </a:rPr>
              <a:t>Персонализация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321291444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Архитектура системы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37B894F-E5A8-40C7-B21D-D85BD8C88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597163" y="1818526"/>
            <a:ext cx="10515600" cy="3600796"/>
          </a:xfrm>
        </p:spPr>
      </p:pic>
    </p:spTree>
    <p:extLst>
      <p:ext uri="{BB962C8B-B14F-4D97-AF65-F5344CB8AC3E}">
        <p14:creationId xmlns:p14="http://schemas.microsoft.com/office/powerpoint/2010/main" val="2331160582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Программные средства для разработки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sz="2400" dirty="0">
                <a:latin typeface="Bicubik" panose="02000503020000020004" pitchFamily="50" charset="0"/>
              </a:rPr>
              <a:t>PostgreSQL — </a:t>
            </a:r>
            <a:r>
              <a:rPr lang="ru-RU" sz="2400" dirty="0">
                <a:latin typeface="Bicubik" panose="02000503020000020004" pitchFamily="50" charset="0"/>
              </a:rPr>
              <a:t>СУБД</a:t>
            </a:r>
          </a:p>
          <a:p>
            <a:r>
              <a:rPr lang="en-US" sz="2400" dirty="0">
                <a:latin typeface="Bicubik" panose="02000503020000020004" pitchFamily="50" charset="0"/>
              </a:rPr>
              <a:t>Python</a:t>
            </a:r>
            <a:r>
              <a:rPr lang="ru-RU" sz="2400" dirty="0">
                <a:latin typeface="Bicubik" panose="02000503020000020004" pitchFamily="50" charset="0"/>
              </a:rPr>
              <a:t> — интерактивность и визуализация.</a:t>
            </a:r>
          </a:p>
          <a:p>
            <a:pPr lvl="1"/>
            <a:r>
              <a:rPr lang="en-US" sz="2000" dirty="0">
                <a:latin typeface="Bicubik" panose="02000503020000020004" pitchFamily="50" charset="0"/>
              </a:rPr>
              <a:t>Flask — </a:t>
            </a:r>
            <a:r>
              <a:rPr lang="ru-RU" sz="2000" dirty="0">
                <a:latin typeface="Bicubik" panose="02000503020000020004" pitchFamily="50" charset="0"/>
              </a:rPr>
              <a:t>основной фреймворк для маршрутизации и обработки запросов</a:t>
            </a:r>
          </a:p>
          <a:p>
            <a:pPr lvl="1"/>
            <a:r>
              <a:rPr lang="ru-RU" sz="2000" dirty="0" err="1">
                <a:latin typeface="Bicubik" panose="02000503020000020004" pitchFamily="50" charset="0"/>
              </a:rPr>
              <a:t>Flask</a:t>
            </a:r>
            <a:r>
              <a:rPr lang="ru-RU" sz="2000" dirty="0">
                <a:latin typeface="Bicubik" panose="02000503020000020004" pitchFamily="50" charset="0"/>
              </a:rPr>
              <a:t> </a:t>
            </a:r>
            <a:r>
              <a:rPr lang="ru-RU" sz="2000" dirty="0" err="1">
                <a:latin typeface="Bicubik" panose="02000503020000020004" pitchFamily="50" charset="0"/>
              </a:rPr>
              <a:t>SQLAlchemy</a:t>
            </a:r>
            <a:r>
              <a:rPr lang="ru-RU" sz="2000" dirty="0">
                <a:latin typeface="Bicubik" panose="02000503020000020004" pitchFamily="50" charset="0"/>
              </a:rPr>
              <a:t> — ORM для работы с БД, упрощение запросов.</a:t>
            </a:r>
          </a:p>
          <a:p>
            <a:pPr lvl="1"/>
            <a:r>
              <a:rPr lang="ru-RU" sz="2000" dirty="0" err="1">
                <a:latin typeface="Bicubik" panose="02000503020000020004" pitchFamily="50" charset="0"/>
              </a:rPr>
              <a:t>Flask</a:t>
            </a:r>
            <a:r>
              <a:rPr lang="ru-RU" sz="2000" dirty="0">
                <a:latin typeface="Bicubik" panose="02000503020000020004" pitchFamily="50" charset="0"/>
              </a:rPr>
              <a:t> </a:t>
            </a:r>
            <a:r>
              <a:rPr lang="ru-RU" sz="2000" dirty="0" err="1">
                <a:latin typeface="Bicubik" panose="02000503020000020004" pitchFamily="50" charset="0"/>
              </a:rPr>
              <a:t>Login</a:t>
            </a:r>
            <a:r>
              <a:rPr lang="ru-RU" sz="2000" dirty="0">
                <a:latin typeface="Bicubik" panose="02000503020000020004" pitchFamily="50" charset="0"/>
              </a:rPr>
              <a:t> — управление сессиями пользователей</a:t>
            </a:r>
          </a:p>
          <a:p>
            <a:pPr lvl="1"/>
            <a:r>
              <a:rPr lang="en-US" sz="2000" dirty="0" err="1">
                <a:latin typeface="Bicubik" panose="02000503020000020004" pitchFamily="50" charset="0"/>
              </a:rPr>
              <a:t>Werkzeug</a:t>
            </a:r>
            <a:r>
              <a:rPr lang="ru-RU" sz="2000" dirty="0">
                <a:latin typeface="Bicubik" panose="02000503020000020004" pitchFamily="50" charset="0"/>
              </a:rPr>
              <a:t> — утилиты для хеширования паролей, обработки запросов.</a:t>
            </a:r>
          </a:p>
          <a:p>
            <a:pPr lvl="1"/>
            <a:r>
              <a:rPr lang="ru-RU" sz="2000" dirty="0" err="1">
                <a:latin typeface="Bicubik" panose="02000503020000020004" pitchFamily="50" charset="0"/>
              </a:rPr>
              <a:t>python</a:t>
            </a:r>
            <a:r>
              <a:rPr lang="ru-RU" sz="2000" dirty="0">
                <a:latin typeface="Bicubik" panose="02000503020000020004" pitchFamily="50" charset="0"/>
              </a:rPr>
              <a:t> </a:t>
            </a:r>
            <a:r>
              <a:rPr lang="ru-RU" sz="2000" dirty="0" err="1">
                <a:latin typeface="Bicubik" panose="02000503020000020004" pitchFamily="50" charset="0"/>
              </a:rPr>
              <a:t>dotenv</a:t>
            </a:r>
            <a:r>
              <a:rPr lang="ru-RU" sz="2000" dirty="0">
                <a:latin typeface="Bicubik" panose="02000503020000020004" pitchFamily="50" charset="0"/>
              </a:rPr>
              <a:t> — загрузка переменных окружения из .</a:t>
            </a:r>
            <a:r>
              <a:rPr lang="ru-RU" sz="2000" dirty="0" err="1">
                <a:latin typeface="Bicubik" panose="02000503020000020004" pitchFamily="50" charset="0"/>
              </a:rPr>
              <a:t>env</a:t>
            </a:r>
            <a:r>
              <a:rPr lang="ru-RU" sz="2000" dirty="0">
                <a:latin typeface="Bicubik" panose="02000503020000020004" pitchFamily="50" charset="0"/>
              </a:rPr>
              <a:t>.</a:t>
            </a:r>
          </a:p>
          <a:p>
            <a:r>
              <a:rPr lang="en-US" sz="2400" dirty="0">
                <a:latin typeface="Bicubik" panose="02000503020000020004" pitchFamily="50" charset="0"/>
              </a:rPr>
              <a:t>HTML5 — </a:t>
            </a:r>
            <a:r>
              <a:rPr lang="ru-RU" sz="2400" dirty="0">
                <a:latin typeface="Bicubik" panose="02000503020000020004" pitchFamily="50" charset="0"/>
              </a:rPr>
              <a:t>структура страниц.</a:t>
            </a:r>
            <a:r>
              <a:rPr lang="en-US" sz="2400" dirty="0">
                <a:latin typeface="Bicubik" panose="02000503020000020004" pitchFamily="50" charset="0"/>
              </a:rPr>
              <a:t> 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ru-RU" sz="2400" dirty="0">
                <a:latin typeface="Bicubik" panose="02000503020000020004" pitchFamily="50" charset="0"/>
              </a:rPr>
              <a:t>CSS3 + </a:t>
            </a:r>
            <a:r>
              <a:rPr lang="ru-RU" sz="2400" dirty="0" err="1">
                <a:latin typeface="Bicubik" panose="02000503020000020004" pitchFamily="50" charset="0"/>
              </a:rPr>
              <a:t>Bootstrap</a:t>
            </a:r>
            <a:r>
              <a:rPr lang="ru-RU" sz="2400" dirty="0">
                <a:latin typeface="Bicubik" panose="02000503020000020004" pitchFamily="50" charset="0"/>
              </a:rPr>
              <a:t> 5 — стилизация, адаптивный дизайн</a:t>
            </a:r>
          </a:p>
        </p:txBody>
      </p:sp>
    </p:spTree>
    <p:extLst>
      <p:ext uri="{BB962C8B-B14F-4D97-AF65-F5344CB8AC3E}">
        <p14:creationId xmlns:p14="http://schemas.microsoft.com/office/powerpoint/2010/main" val="1268542230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Структура базы данных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4838A2B-B491-4077-823F-6298C03ED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33061"/>
            <a:ext cx="5181600" cy="3943902"/>
          </a:xfrm>
        </p:spPr>
        <p:txBody>
          <a:bodyPr>
            <a:normAutofit/>
          </a:bodyPr>
          <a:lstStyle/>
          <a:p>
            <a:r>
              <a:rPr lang="en-US" sz="2000" dirty="0"/>
              <a:t>Products (</a:t>
            </a:r>
            <a:r>
              <a:rPr lang="ru-RU" sz="2000" dirty="0"/>
              <a:t>Продукты)</a:t>
            </a:r>
          </a:p>
          <a:p>
            <a:r>
              <a:rPr lang="en-US" sz="2000" dirty="0"/>
              <a:t>Users (</a:t>
            </a:r>
            <a:r>
              <a:rPr lang="ru-RU" sz="2000" dirty="0"/>
              <a:t>Пользователи)</a:t>
            </a:r>
          </a:p>
          <a:p>
            <a:r>
              <a:rPr lang="en-US" sz="2000" dirty="0" err="1"/>
              <a:t>Food_entries</a:t>
            </a:r>
            <a:r>
              <a:rPr lang="en-US" sz="2000" dirty="0"/>
              <a:t> (</a:t>
            </a:r>
            <a:r>
              <a:rPr lang="ru-RU" sz="2000" dirty="0"/>
              <a:t>Записи потребления)</a:t>
            </a:r>
          </a:p>
          <a:p>
            <a:r>
              <a:rPr lang="en-US" sz="2000" dirty="0" err="1"/>
              <a:t>User_profile</a:t>
            </a:r>
            <a:r>
              <a:rPr lang="en-US" sz="2000" dirty="0"/>
              <a:t> (</a:t>
            </a:r>
            <a:r>
              <a:rPr lang="ru-RU" sz="2000" dirty="0"/>
              <a:t>Профили пользователей)</a:t>
            </a:r>
          </a:p>
          <a:p>
            <a:r>
              <a:rPr lang="en-US" sz="2000" dirty="0" err="1"/>
              <a:t>User_levels</a:t>
            </a:r>
            <a:r>
              <a:rPr lang="en-US" sz="2000" dirty="0"/>
              <a:t> (</a:t>
            </a:r>
            <a:r>
              <a:rPr lang="ru-RU" sz="2000" dirty="0"/>
              <a:t>Уровни пользователей)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FF8398-897E-442D-A44E-4818F04B23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61" y="1889862"/>
            <a:ext cx="3999827" cy="50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64662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Интерфейс</a:t>
            </a:r>
            <a:r>
              <a:rPr lang="en-US" b="1" dirty="0">
                <a:latin typeface="Bicubik" panose="02000503020000020004" pitchFamily="50" charset="0"/>
              </a:rPr>
              <a:t>. </a:t>
            </a:r>
            <a:r>
              <a:rPr lang="ru-RU" b="1" dirty="0">
                <a:latin typeface="Bicubik" panose="02000503020000020004" pitchFamily="50" charset="0"/>
              </a:rPr>
              <a:t>Регистрация/авторизация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479120-28F9-470E-A5B1-4B6EC7AA54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8821" y="1431982"/>
            <a:ext cx="5996861" cy="536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00312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Интерфейс</a:t>
            </a:r>
            <a:r>
              <a:rPr lang="en-US" b="1" dirty="0">
                <a:latin typeface="Bicubik" panose="02000503020000020004" pitchFamily="50" charset="0"/>
              </a:rPr>
              <a:t>. </a:t>
            </a:r>
            <a:r>
              <a:rPr lang="ru-RU" b="1" dirty="0">
                <a:latin typeface="Bicubik" panose="02000503020000020004" pitchFamily="50" charset="0"/>
              </a:rPr>
              <a:t>Личный кабинет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46E968-CC54-46BC-9841-07074F1D33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8675" y="1645948"/>
            <a:ext cx="6694650" cy="48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48769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Интерфейс</a:t>
            </a:r>
            <a:r>
              <a:rPr lang="en-US" b="1" dirty="0">
                <a:latin typeface="Bicubik" panose="02000503020000020004" pitchFamily="50" charset="0"/>
              </a:rPr>
              <a:t>. </a:t>
            </a:r>
            <a:r>
              <a:rPr lang="ru-RU" b="1" dirty="0">
                <a:latin typeface="Bicubik" panose="02000503020000020004" pitchFamily="50" charset="0"/>
              </a:rPr>
              <a:t>Дневник питания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AB828F-A2AC-430C-BF6A-E213D6C93C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5800" y="1381423"/>
            <a:ext cx="6440401" cy="531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04247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Интерфейс</a:t>
            </a:r>
            <a:r>
              <a:rPr lang="en-US" b="1" dirty="0">
                <a:latin typeface="Bicubik" panose="02000503020000020004" pitchFamily="50" charset="0"/>
              </a:rPr>
              <a:t>. </a:t>
            </a:r>
            <a:r>
              <a:rPr lang="ru-RU" b="1" dirty="0">
                <a:latin typeface="Bicubik" panose="02000503020000020004" pitchFamily="50" charset="0"/>
              </a:rPr>
              <a:t>Статистика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FF3D33-2AAC-4128-943B-D5933D320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000" y="1869906"/>
            <a:ext cx="4959999" cy="35700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211268-E4F7-48F3-825F-A77B4BD333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600" y="1889862"/>
            <a:ext cx="5181600" cy="414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55643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Расчётные алгоритмы. </a:t>
            </a:r>
            <a:r>
              <a:rPr lang="en-US" b="1" dirty="0">
                <a:latin typeface="Bicubik" panose="02000503020000020004" pitchFamily="50" charset="0"/>
              </a:rPr>
              <a:t>BMR</a:t>
            </a:r>
            <a:endParaRPr lang="ru-RU" b="1" dirty="0">
              <a:latin typeface="Bicubik" panose="02000503020000020004" pitchFamily="50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3E8111-E74A-4DC5-AE37-FAF5B01EEA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813" y="1393546"/>
            <a:ext cx="7227491" cy="451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4781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Расчётные алгоритмы. КБЖУ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2C39CC-9FB6-45F5-8EAB-445BA7CE09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432" y="2536719"/>
            <a:ext cx="5523136" cy="246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9545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Перспективы развития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Расширение базы данных продуктов</a:t>
            </a:r>
          </a:p>
          <a:p>
            <a:r>
              <a:rPr lang="ru-RU" dirty="0">
                <a:latin typeface="Bicubik" panose="02000503020000020004" pitchFamily="50" charset="0"/>
              </a:rPr>
              <a:t>Персонализация рекомендаций</a:t>
            </a:r>
          </a:p>
          <a:p>
            <a:r>
              <a:rPr lang="ru-RU" dirty="0">
                <a:latin typeface="Bicubik" panose="02000503020000020004" pitchFamily="50" charset="0"/>
              </a:rPr>
              <a:t>Интеграция с носимыми устройствами</a:t>
            </a:r>
          </a:p>
          <a:p>
            <a:r>
              <a:rPr lang="ru-RU" dirty="0">
                <a:latin typeface="Bicubik" panose="02000503020000020004" pitchFamily="50" charset="0"/>
              </a:rPr>
              <a:t>Социальные функции (сообщества пользователей)</a:t>
            </a:r>
            <a:endParaRPr lang="en-US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Улучшение визуализации</a:t>
            </a:r>
            <a:endParaRPr lang="en-US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Автоматизация ввода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80264843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Заключение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400" dirty="0">
              <a:latin typeface="Bicubik" panose="02000503020000020004" pitchFamily="50" charset="0"/>
            </a:endParaRPr>
          </a:p>
          <a:p>
            <a:r>
              <a:rPr lang="ru-RU" dirty="0">
                <a:latin typeface="Bicubik" panose="02000503020000020004" pitchFamily="50" charset="0"/>
              </a:rPr>
              <a:t>Проведен анализ темы и аналогов</a:t>
            </a:r>
          </a:p>
          <a:p>
            <a:r>
              <a:rPr lang="ru-RU" dirty="0">
                <a:latin typeface="Bicubik" panose="02000503020000020004" pitchFamily="50" charset="0"/>
              </a:rPr>
              <a:t>Спроектирована архитектура приложения</a:t>
            </a:r>
          </a:p>
          <a:p>
            <a:r>
              <a:rPr lang="ru-RU" dirty="0">
                <a:latin typeface="Bicubik" panose="02000503020000020004" pitchFamily="50" charset="0"/>
              </a:rPr>
              <a:t>Разработана структура БД</a:t>
            </a:r>
          </a:p>
          <a:p>
            <a:r>
              <a:rPr lang="ru-RU" dirty="0">
                <a:latin typeface="Bicubik" panose="02000503020000020004" pitchFamily="50" charset="0"/>
              </a:rPr>
              <a:t>Реализованы программные модули </a:t>
            </a:r>
          </a:p>
          <a:p>
            <a:r>
              <a:rPr lang="ru-RU" dirty="0">
                <a:latin typeface="Bicubik" panose="02000503020000020004" pitchFamily="50" charset="0"/>
              </a:rPr>
              <a:t>Развернуто приложение в облачном сервисе</a:t>
            </a:r>
          </a:p>
          <a:p>
            <a:r>
              <a:rPr lang="ru-RU" dirty="0">
                <a:latin typeface="Bicubik" panose="02000503020000020004" pitchFamily="50" charset="0"/>
              </a:rPr>
              <a:t>Проведено тестирование приложения</a:t>
            </a:r>
          </a:p>
          <a:p>
            <a:r>
              <a:rPr lang="ru-RU" dirty="0">
                <a:latin typeface="Bicubik" panose="02000503020000020004" pitchFamily="50" charset="0"/>
              </a:rPr>
              <a:t>Подготовлена документация (инструкции)</a:t>
            </a:r>
          </a:p>
          <a:p>
            <a:endParaRPr lang="ru-RU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0507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318</Words>
  <Application>Microsoft Office PowerPoint</Application>
  <PresentationFormat>Широкоэкранный</PresentationFormat>
  <Paragraphs>78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Bicubik</vt:lpstr>
      <vt:lpstr>Calibri</vt:lpstr>
      <vt:lpstr>Calibri Light</vt:lpstr>
      <vt:lpstr>Times New Roman</vt:lpstr>
      <vt:lpstr>Тема Office</vt:lpstr>
      <vt:lpstr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 </vt:lpstr>
      <vt:lpstr>Цели и задачи/проблематика проекта</vt:lpstr>
      <vt:lpstr>Анализ предметной области</vt:lpstr>
      <vt:lpstr>Функциональные возможности</vt:lpstr>
      <vt:lpstr>Архитектура системы</vt:lpstr>
      <vt:lpstr>Программные средства для разработки</vt:lpstr>
      <vt:lpstr>Структура базы данных</vt:lpstr>
      <vt:lpstr>Интерфейс. Регистрация/авторизация</vt:lpstr>
      <vt:lpstr>Интерфейс. Личный кабинет</vt:lpstr>
      <vt:lpstr>Интерфейс. Дневник питания</vt:lpstr>
      <vt:lpstr>Интерфейс. Статистика</vt:lpstr>
      <vt:lpstr>Расчётные алгоритмы. BMR</vt:lpstr>
      <vt:lpstr>Расчётные алгоритмы. КБЖУ</vt:lpstr>
      <vt:lpstr>Перспективы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</dc:title>
  <dc:creator>Артур Габитов</dc:creator>
  <cp:lastModifiedBy>admin</cp:lastModifiedBy>
  <cp:revision>24</cp:revision>
  <dcterms:created xsi:type="dcterms:W3CDTF">2025-05-03T17:05:12Z</dcterms:created>
  <dcterms:modified xsi:type="dcterms:W3CDTF">2026-06-07T14:42:25Z</dcterms:modified>
</cp:coreProperties>
</file>